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Pharmaceutical NBE Agents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AI-Powered Sales Intelligence for Pharmaceutical Field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95959"/>
                </a:solidFill>
              </a:defRPr>
            </a:pPr>
            <a:r>
              <a:t>Turn CRM Data Into Actionable Engagement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Pharmaceutical reps manage 100+ HCP relationships with limited face time</a:t>
            </a:r>
          </a:p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Traditional CRM systems provide data, not actionable insights</a:t>
            </a:r>
          </a:p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Difficult to identify at-risk relationships before they disengage</a:t>
            </a:r>
          </a:p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No personalized guidance on when, how, and what to discuss</a:t>
            </a:r>
          </a:p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Sales teams need prioritization, not just scores</a:t>
            </a:r>
          </a:p>
          <a:p>
            <a:pPr>
              <a:spcAft>
                <a:spcPts val="2000"/>
              </a:spcAft>
              <a:defRPr sz="2200">
                <a:solidFill>
                  <a:srgbClr val="595959"/>
                </a:solidFill>
              </a:defRPr>
            </a:pPr>
            <a:r>
              <a:t>• Compliance requirements limit marketing flexibility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Solution: AI Agents That Understand Your Territory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2400" b="1">
                <a:solidFill>
                  <a:srgbClr val="0066CC"/>
                </a:solidFill>
              </a:defRPr>
            </a:pPr>
            <a:r>
              <a:t>Like having a sales strategist analyze every physician relationship</a:t>
            </a:r>
          </a:p>
          <a:p>
            <a:pPr>
              <a:spcAft>
                <a:spcPts val="1800"/>
              </a:spcAft>
              <a:defRPr sz="1800">
                <a:solidFill>
                  <a:srgbClr val="595959"/>
                </a:solidFill>
              </a:defRPr>
            </a:pPr>
            <a:r>
              <a:t>✓ HCP Profiler Agent: Analyzes individual physician engagement patterns and preferences</a:t>
            </a:r>
          </a:p>
          <a:p>
            <a:pPr>
              <a:spcAft>
                <a:spcPts val="1800"/>
              </a:spcAft>
              <a:defRPr sz="1800">
                <a:solidFill>
                  <a:srgbClr val="595959"/>
                </a:solidFill>
              </a:defRPr>
            </a:pPr>
            <a:r>
              <a:t>✓ NBE Recommender Agent: Generates Next Best Engagement strategies with channel optimization</a:t>
            </a:r>
          </a:p>
          <a:p>
            <a:pPr>
              <a:spcAft>
                <a:spcPts val="1800"/>
              </a:spcAft>
              <a:defRPr sz="1800">
                <a:solidFill>
                  <a:srgbClr val="595959"/>
                </a:solidFill>
              </a:defRPr>
            </a:pPr>
            <a:r>
              <a:t>✓ Orchestrator Agent: Coordinates multi-agent workflows for complete territory intelligence</a:t>
            </a:r>
          </a:p>
          <a:p>
            <a:pPr>
              <a:spcAft>
                <a:spcPts val="1800"/>
              </a:spcAft>
              <a:defRPr sz="1800">
                <a:solidFill>
                  <a:srgbClr val="595959"/>
                </a:solidFill>
              </a:defRPr>
            </a:pPr>
            <a:r>
              <a:t>✓ Built on Claude Sonnet 4 for advanced medical and business reasoning</a:t>
            </a:r>
          </a:p>
          <a:p>
            <a:pPr>
              <a:spcAft>
                <a:spcPts val="1800"/>
              </a:spcAft>
              <a:defRPr sz="1800">
                <a:solidFill>
                  <a:srgbClr val="595959"/>
                </a:solidFill>
              </a:defRPr>
            </a:pPr>
            <a:r>
              <a:t>✓ Transforms 'HCP001 has a score of 87' into 'Call Dr. Smith this week about Neuro-Delta, leading with new efficacy data'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How It Works: 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HCP Profiler</a:t>
            </a:r>
          </a:p>
          <a:p>
            <a:br/>
            <a:pPr>
              <a:defRPr sz="1400">
                <a:solidFill>
                  <a:srgbClr val="595959"/>
                </a:solidFill>
              </a:defRPr>
            </a:pPr>
            <a:r>
              <a:t>• Analyzes engagement patterns</a:t>
            </a:r>
            <a:br/>
            <a:r>
              <a:t>• Calculates sentiment scores</a:t>
            </a:r>
            <a:br/>
            <a:r>
              <a:t>• Identifies preferences</a:t>
            </a:r>
            <a:br/>
            <a:r>
              <a:t>• Generates insights</a:t>
            </a:r>
            <a:br/>
            <a:r>
              <a:t>• Product-specialty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NBE Recommender</a:t>
            </a:r>
          </a:p>
          <a:p>
            <a:br/>
            <a:pPr>
              <a:defRPr sz="1400">
                <a:solidFill>
                  <a:srgbClr val="595959"/>
                </a:solidFill>
              </a:defRPr>
            </a:pPr>
            <a:r>
              <a:t>• Priority scoring</a:t>
            </a:r>
            <a:br/>
            <a:r>
              <a:t>• At-risk detection</a:t>
            </a:r>
            <a:br/>
            <a:r>
              <a:t>• Channel optimization</a:t>
            </a:r>
            <a:br/>
            <a:r>
              <a:t>• Message personalization</a:t>
            </a:r>
            <a:br/>
            <a:r>
              <a:t>• Confidence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Orchestrator</a:t>
            </a:r>
          </a:p>
          <a:p>
            <a:br/>
            <a:pPr>
              <a:defRPr sz="1400">
                <a:solidFill>
                  <a:srgbClr val="595959"/>
                </a:solidFill>
              </a:defRPr>
            </a:pPr>
            <a:r>
              <a:t>• Coordinates agents</a:t>
            </a:r>
            <a:br/>
            <a:r>
              <a:t>• Territory analysis</a:t>
            </a:r>
            <a:br/>
            <a:r>
              <a:t>• Batch processing</a:t>
            </a:r>
            <a:br/>
            <a:r>
              <a:t>• Report generation</a:t>
            </a:r>
            <a:br/>
            <a:r>
              <a:t>• CRM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CRM Data → AI Analysis → Actionable Recommendations → Field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HCP Micro-Segmentation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Individual physician profiling beyond traditional tier systems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At-Risk Detection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Proactive identification of disengaging relationships (&gt;90 days)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Channel Optimization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AI recommends optimal contact method per HCP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Product-Specialty Alignment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Automatic matching based on indication and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Confidence Scoring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Every recommendation includes 0.0-1.0 AI confidence level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Compliance Ready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Audit logging, data anonymization, no PHI to AI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Multi-Agent Orchestration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Coordinated workflow across specialized agents</a:t>
            </a:r>
          </a:p>
          <a:p>
            <a:pPr>
              <a:spcAft>
                <a:spcPts val="500"/>
              </a:spcAft>
              <a:defRPr sz="1600" b="1">
                <a:solidFill>
                  <a:srgbClr val="0066CC"/>
                </a:solidFill>
              </a:defRPr>
            </a:pPr>
            <a:r>
              <a:t>CRM Integration</a:t>
            </a:r>
          </a:p>
          <a:p>
            <a:pPr>
              <a:spcAft>
                <a:spcPts val="2000"/>
              </a:spcAft>
              <a:defRPr sz="1300">
                <a:solidFill>
                  <a:srgbClr val="595959"/>
                </a:solidFill>
              </a:defRPr>
            </a:pPr>
            <a:r>
              <a:t>JSON output for Salesforce, Veeva, or any CRM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Live Agent Output: NBE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Dr. H. Smith 85 - Tier A Oncologist | Priority: HIGH | Confidence: 92%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Action: Schedule urgent in-person visit to re-engage and assess current treatment protocols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Message: 'Latest clinical data shows NBE003 achieving superior progression-free survival in metastatic melanoma patients'</a:t>
            </a:r>
          </a:p>
          <a:p>
            <a:pPr>
              <a:defRPr sz="1200" i="1">
                <a:solidFill>
                  <a:srgbClr val="595959"/>
                </a:solidFill>
              </a:defRPr>
            </a:pPr>
            <a:r>
              <a:t>Rationale: High-value HCP out of contact for 443 days with low positive outcome rate (14%) despite good sentiment. Immediate re-engagement critical.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Dr. G. Smith 6 - Tier A Neurologist | Priority: HIGH | Confidence: 85%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Action: Schedule urgent re-engagement call to rebuild relationship and assess current MS treatment approach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Message: 'Latest Neuro-Delta clinical data shows superior efficacy in relapsing MS patients - let's discuss impact on your protocols'</a:t>
            </a:r>
          </a:p>
          <a:p>
            <a:pPr>
              <a:defRPr sz="1200" i="1">
                <a:solidFill>
                  <a:srgbClr val="595959"/>
                </a:solidFill>
              </a:defRPr>
            </a:pPr>
            <a:r>
              <a:t>Rationale: 15+ months out of contact with at-risk status and low outcomes (14%). High priority score (167.39) and large patient volume (423) make re-engagement critical.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D9D9D9"/>
                </a:solidFill>
              </a:defRPr>
            </a:pPr>
            <a:r>
              <a:t>Sample output from Northeast Territory analysis - Generated by NBE Recommender Agent with Claude Sonnet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Business 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3-5</a:t>
            </a:r>
          </a:p>
          <a:p>
            <a:pPr algn="ctr">
              <a:defRPr sz="1400">
                <a:solidFill>
                  <a:srgbClr val="595959"/>
                </a:solidFill>
              </a:defRPr>
            </a:pPr>
            <a:r>
              <a:t>High-Priority Recommendations</a:t>
            </a:r>
            <a:br/>
            <a:r>
              <a:t>Per Territory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86%</a:t>
            </a:r>
          </a:p>
          <a:p>
            <a:pPr algn="ctr">
              <a:defRPr sz="1400">
                <a:solidFill>
                  <a:srgbClr val="595959"/>
                </a:solidFill>
              </a:defRPr>
            </a:pPr>
            <a:r>
              <a:t>Average AI Confidence Score</a:t>
            </a:r>
            <a:br/>
            <a:r>
              <a:t>On All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8B22"/>
                </a:solidFill>
              </a:defRPr>
            </a:pPr>
            <a:r>
              <a:t>$787K</a:t>
            </a:r>
          </a:p>
          <a:p>
            <a:pPr algn="ctr">
              <a:defRPr sz="1400">
                <a:solidFill>
                  <a:srgbClr val="595959"/>
                </a:solidFill>
              </a:defRPr>
            </a:pPr>
            <a:r>
              <a:t>Potential Revenue Impact</a:t>
            </a:r>
            <a:br/>
            <a:r>
              <a:t>From Northeast Territory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8B22"/>
                </a:solidFill>
              </a:defRPr>
            </a:pPr>
            <a:r>
              <a:t>100%</a:t>
            </a:r>
          </a:p>
          <a:p>
            <a:pPr algn="ctr">
              <a:defRPr sz="1400">
                <a:solidFill>
                  <a:srgbClr val="595959"/>
                </a:solidFill>
              </a:defRPr>
            </a:pPr>
            <a:r>
              <a:t>Recommendations Require</a:t>
            </a:r>
            <a:br/>
            <a:r>
              <a:t>Immediate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3366"/>
                </a:solidFill>
              </a:defRPr>
            </a:pPr>
            <a:r>
              <a:t>Value Drivers: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• Prevent at-risk HCP disengagement before revenue loss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• Optimize rep time by prioritizing highest-value interactions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• Increase positive outcome rates through personalized messaging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• Multi-channel strategy reduces wasted outreach attempts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Technology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Claude Sonnet 4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State-of-the-art AI reasoning engine for medical and business intelligence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Python 3.11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Production-grade data processing and agent orchestration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Pandas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CRM data analysis and metric calculation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Pydantic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Data validation and schema enforcement for reliability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Multi-Agent Pattern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Specialized agents with coordinated workflows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JSON API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Standard integration format for CRM systems (Salesforce, Veeva)</a:t>
            </a:r>
          </a:p>
          <a:p>
            <a:pPr>
              <a:spcAft>
                <a:spcPts val="500"/>
              </a:spcAft>
              <a:defRPr sz="1800" b="1">
                <a:solidFill>
                  <a:srgbClr val="0066CC"/>
                </a:solidFill>
              </a:defRPr>
            </a:pPr>
            <a:r>
              <a:t>Environment Config</a:t>
            </a:r>
          </a:p>
          <a:p>
            <a:pPr>
              <a:spcAft>
                <a:spcPts val="1800"/>
              </a:spcAft>
              <a:defRPr sz="1400">
                <a:solidFill>
                  <a:srgbClr val="595959"/>
                </a:solidFill>
              </a:defRPr>
            </a:pPr>
            <a:r>
              <a:t>Secure credential management and deployment flexibility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Production-Ready: Modular, Testable, Scalable, Compliance-Focused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0066CC"/>
                </a:solidFill>
              </a:defRPr>
            </a:pPr>
            <a:r>
              <a:t>"Like having a sales strategist analyze every physician relationship"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595959"/>
                </a:solidFill>
              </a:defRPr>
            </a:pPr>
            <a:r>
              <a:t>Traditional CRM Analytics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HCP001 has a score of 87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Tier A physician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Last contact: 443 days ago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Positive outcome rate: 14%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Next action: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34747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8B22"/>
                </a:solidFill>
              </a:defRPr>
            </a:pPr>
            <a:r>
              <a:t>NBE Agents Platform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✓ "Call Dr. Smith this week"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✓ "Use in-person visit"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✓ "Discuss Onco-Gamma"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✓ "Lead with new efficacy data"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✓ "92% confidence"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0066CC"/>
                </a:solidFill>
              </a:defRPr>
            </a:pPr>
            <a:r>
              <a:t>Proactive Recommendations, Not Reactive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Next Steps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28B22"/>
                </a:solidFill>
              </a:defRPr>
            </a:pPr>
            <a:r>
              <a:t>Ready Today: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✓ Production-ready codebase with 3 AI agents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✓ Processes 100 HCPs with real CRM data structure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✓ JSON output for CRM integration (Salesforce, Veeva)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✓ Compliance features: audit logging, data anonymization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✓ Scalable architecture for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</a:defRPr>
            </a:pPr>
            <a:r>
              <a:t>Future Enhancements: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Sentiment analysis from email/call transcripts for deeper HCP insights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Predictive modeling for prescription likelihood and revenue forecasting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Territory optimization algorithms for rep assignment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Dashboard for sales managers with real-time territory health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Direct integration with Salesforce/Veeva APIs (currently CSV-based)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→ Feedback loop from field outcomes to improve AI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66CC"/>
                </a:solidFill>
              </a:defRPr>
            </a:pPr>
            <a:r>
              <a:t>Built for pharmaceutical field teams who need to maximize face time with HCPs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